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jbIemdA1/MzLMQsplSU+SQSDyi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E865FE-ABF6-41E5-8D91-20262DE2588E}">
  <a:tblStyle styleId="{2AE865FE-ABF6-41E5-8D91-20262DE258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4A6E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Logistique 47%</c:v>
                </c:pt>
                <c:pt idx="1">
                  <c:v>Digital &amp; IoT 22%</c:v>
                </c:pt>
                <c:pt idx="2">
                  <c:v>Aménagement 31%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47</c:v>
                </c:pt>
                <c:pt idx="1">
                  <c:v>22</c:v>
                </c:pt>
                <c:pt idx="2">
                  <c:v>31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188 bacs 28L et 62 bac 7.46</a:t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2467e168c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d2467e168c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2467e168c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2467e168c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d2467e168c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2467e168c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2467e168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d2467e168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d2467e168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d233dcdc3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d233dcdc3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d233dcdc31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1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09728"/>
            <a:ext cx="109728" cy="503377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2C4A6E">
              <a:alpha val="30196"/>
            </a:srgbClr>
          </a:solidFill>
          <a:ln cap="flat" cmpd="sng" w="12700">
            <a:solidFill>
              <a:srgbClr val="2C4A6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0" y="1097280"/>
            <a:ext cx="2743200" cy="2743200"/>
          </a:xfrm>
          <a:prstGeom prst="ellipse">
            <a:avLst/>
          </a:prstGeom>
          <a:solidFill>
            <a:srgbClr val="F5A623">
              <a:alpha val="14901"/>
            </a:srgbClr>
          </a:solidFill>
          <a:ln cap="flat" cmpd="sng" w="12700">
            <a:solidFill>
              <a:srgbClr val="F5A623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91440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 LIGNE 5.0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87452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Semestre 2 — Étude approfondie &amp; projections réalistes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468880"/>
            <a:ext cx="4114800" cy="36576"/>
          </a:xfrm>
          <a:prstGeom prst="rect">
            <a:avLst/>
          </a:prstGeom>
          <a:solidFill>
            <a:srgbClr val="6B7F94"/>
          </a:solidFill>
          <a:ln cap="flat" cmpd="sng" w="12700">
            <a:solidFill>
              <a:srgbClr val="6B7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2651760"/>
            <a:ext cx="1828800" cy="347472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26517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Logistique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423160" y="2651760"/>
            <a:ext cx="1828800" cy="347472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423160" y="26517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Lean Manufacturing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389120" y="2651760"/>
            <a:ext cx="1828800" cy="347472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389120" y="26517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Industrie 5.0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355080" y="2651760"/>
            <a:ext cx="1828800" cy="347472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355080" y="265176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3657600"/>
            <a:ext cx="1920240" cy="11430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457200" y="365760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440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57200" y="4315968"/>
            <a:ext cx="1920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chariots/jour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2606040" y="3657600"/>
            <a:ext cx="1920240" cy="11430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2606040" y="365760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60s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2606040" y="4315968"/>
            <a:ext cx="1920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Takt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754880" y="3657600"/>
            <a:ext cx="1920240" cy="11430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4754880" y="365760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754880" y="4315968"/>
            <a:ext cx="1920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opérateurs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903720" y="3657600"/>
            <a:ext cx="1920240" cy="11430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903720" y="365760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&lt;9 mois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903720" y="4315968"/>
            <a:ext cx="19202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0" y="73152"/>
            <a:ext cx="2926200" cy="50703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74320" y="27432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274320" y="914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68680" y="941832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Livraison &amp; Logistique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274320" y="1572768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274320" y="1572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68680" y="1600200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Préparation &amp; Standards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4320" y="2231136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274320" y="2231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68680" y="2258568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Logistique &amp; VSM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274320" y="2889504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274320" y="28895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68680" y="2916936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Packaging &amp; Expédition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274320" y="3547872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7432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68680" y="3575304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Incoterms &amp; Contrats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74320" y="4206240"/>
            <a:ext cx="457200" cy="457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4206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68680" y="4233672"/>
            <a:ext cx="192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Finances &amp;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200400" y="27432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Vue d'ensemble du projet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200400" y="91440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200400" y="14447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Objectif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291840" y="175564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Assembler 1 chariot Trolley par minute dans le Labo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035040" y="91440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035040" y="10058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35040" y="14447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Méthode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126480" y="175564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Lean Manufacturing, Industrie 5.0, FIFO, Kanban, Water Spider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200400" y="274320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200400" y="2834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200400" y="32735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Flux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291840" y="358444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250 bacs Eurobox/jour sur 13 palettes Europe massifiées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035040" y="2743200"/>
            <a:ext cx="265176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035040" y="2834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035040" y="327355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126480" y="3584448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RFID, Pick-to-light, tablettes IHM, traçabilité ERP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Livraison &amp; Logistique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Approvisionnement · Palettisation · Supermarché dynamique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Livraison des composants — Flux Eurobox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365760" y="7772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250 bacs Eurobox / jour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50" y="1188725"/>
            <a:ext cx="4206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Format bac : </a:t>
            </a: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600 × 400 × 32 mm</a:t>
            </a:r>
            <a:b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Palette Europe : </a:t>
            </a: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1200 × 800 mm</a:t>
            </a:r>
            <a:b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Agencement : </a:t>
            </a: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 bacs par couche, 5 couches/palette</a:t>
            </a:r>
            <a:b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Total : </a:t>
            </a:r>
            <a:r>
              <a:rPr b="0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13 palettes (≈19-20 bacs/palette)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2606040"/>
            <a:ext cx="4206240" cy="13716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65760" y="26060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🗄 Rack Dynamique FIFO — Poste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299923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3 Eurobox simultanées 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1 en cours · 1 tampon · 1 retour à vide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Autonomie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min / bac (20 cadres/bac)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4754880" y="777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{2AE865FE-ABF6-41E5-8D91-20262DE2588E}</a:tableStyleId>
              </a:tblPr>
              <a:tblGrid>
                <a:gridCol w="1051550"/>
                <a:gridCol w="1051550"/>
                <a:gridCol w="1051550"/>
                <a:gridCol w="10515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Référence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Qté/Bac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Nbre Bacs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Poids/Bac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Supports PF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7 200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Supports Mobile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7 200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Écrou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4 000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Bloqueur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9 000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Roue (R/V/G)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4 750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Flasque D_A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1 800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1 000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8 000 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Stratégie de Palettisation — Pyramide de Densité &amp; Golden Zone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Prévention des TMS : principe de la Golden Zone (75–110 cm)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57200" y="113385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NIVEAU 5 — Sommet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14813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Écrous / Flasques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108960" y="123444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Petit 7.46L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663440" y="123444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1.8–4.0 kg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126480" y="12344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&gt;110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132320" y="120700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Poids léger — Effort négligeable en hauteur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9E7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57200" y="202996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NIVEAU 4 — Milieu Haut 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23774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Bloqueurs / Vis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108960" y="213055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Petit 7.46L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663440" y="213055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8.0–9.0 kg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26480" y="2130552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90–110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132320" y="210312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CRITIQUE : charges les + denses en Golden Zone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2889504"/>
            <a:ext cx="8412480" cy="804672"/>
          </a:xfrm>
          <a:prstGeom prst="rect">
            <a:avLst/>
          </a:prstGeom>
          <a:solidFill>
            <a:srgbClr val="E3F2FD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57200" y="29260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NIVEAU 3 — Milieu Bas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327355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Roues (R/V/G)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108960" y="3026664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Grand 28L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663440" y="302666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4.75 kg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26480" y="30266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60–90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132320" y="299923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Article + consommé (70 bacs/j) — accès rapide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760" y="3785616"/>
            <a:ext cx="8412480" cy="804672"/>
          </a:xfrm>
          <a:prstGeom prst="rect">
            <a:avLst/>
          </a:prstGeom>
          <a:solidFill>
            <a:srgbClr val="EDE7F6"/>
          </a:solidFill>
          <a:ln cap="flat" cmpd="sng" w="1270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57200" y="382219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NIVEAUX 1 &amp; 2 — Fondations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416966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Supports PF / Mobiles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108960" y="392277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Grand 28L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663440" y="392277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7.20 kg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126480" y="392277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Sol–60 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132320" y="3895344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Stabilité &amp; résilience — Centre de gravité bas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Supermarché Dynamique — Cellule en U (Labo 2)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365760" y="7132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Dimensionnement Technique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5760" y="1115568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57200" y="111556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Surface Labo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743200" y="111556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115 m²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65760" y="1591056"/>
            <a:ext cx="4114800" cy="420624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57200" y="159105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Module rack (l × 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743200" y="1591056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1,30 m × 2,40 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65760" y="2066544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57200" y="206654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Capacité / module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743200" y="2066544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 grands bacs ou 6 petits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65760" y="2542032"/>
            <a:ext cx="4114800" cy="420624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57200" y="254203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Total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743200" y="2542032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 modules (cellule en U)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3017520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57200" y="30175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Bacs Kanban / jour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743200" y="3017520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bacs (188 grands + </a:t>
            </a: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petits)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365760" y="3493008"/>
            <a:ext cx="4114800" cy="420624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457200" y="349300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Emprise spatiale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743200" y="3493008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~22 m²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5760" y="3968496"/>
            <a:ext cx="4114800" cy="4206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57200" y="396849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Pente gravité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743200" y="3968496"/>
            <a:ext cx="1645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3% à 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392602" y="1055991"/>
            <a:ext cx="9081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5392602" y="1055991"/>
            <a:ext cx="908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Calibri"/>
              <a:buNone/>
            </a:pPr>
            <a:r>
              <a:rPr b="1" i="0" lang="en-US" sz="86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1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364004" y="1055991"/>
            <a:ext cx="9081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6364004" y="1055991"/>
            <a:ext cx="908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Calibri"/>
              <a:buNone/>
            </a:pPr>
            <a:r>
              <a:rPr b="1" i="0" lang="en-US" sz="86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2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335406" y="1055991"/>
            <a:ext cx="9081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7335406" y="1055991"/>
            <a:ext cx="9081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4"/>
              <a:buFont typeface="Calibri"/>
              <a:buNone/>
            </a:pPr>
            <a:r>
              <a:rPr b="1" i="0" lang="en-US" sz="86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3</a:t>
            </a:r>
            <a:endParaRPr b="0" i="0" sz="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745001" y="1711490"/>
            <a:ext cx="6177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745001" y="1711490"/>
            <a:ext cx="617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7"/>
              <a:buFont typeface="Calibri"/>
              <a:buNone/>
            </a:pPr>
            <a:r>
              <a:rPr b="1" i="0" lang="en-US" sz="7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6</a:t>
            </a:r>
            <a:endParaRPr b="0" i="0" sz="7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745001" y="2366989"/>
            <a:ext cx="6177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745001" y="2366989"/>
            <a:ext cx="617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7"/>
              <a:buFont typeface="Calibri"/>
              <a:buNone/>
            </a:pPr>
            <a:r>
              <a:rPr b="1" i="0" lang="en-US" sz="7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7</a:t>
            </a:r>
            <a:endParaRPr b="0" i="0" sz="7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8298910" y="1711490"/>
            <a:ext cx="6177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8480565" y="1750982"/>
            <a:ext cx="617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7"/>
              <a:buFont typeface="Calibri"/>
              <a:buNone/>
            </a:pPr>
            <a:r>
              <a:rPr b="1" i="0" lang="en-US" sz="7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4</a:t>
            </a:r>
            <a:endParaRPr b="0" i="0" sz="7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298910" y="2366989"/>
            <a:ext cx="617700" cy="592200"/>
          </a:xfrm>
          <a:prstGeom prst="rect">
            <a:avLst/>
          </a:prstGeom>
          <a:solidFill>
            <a:srgbClr val="2C4A6E"/>
          </a:solidFill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8298910" y="2366989"/>
            <a:ext cx="617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7"/>
              <a:buFont typeface="Calibri"/>
              <a:buNone/>
            </a:pPr>
            <a:r>
              <a:rPr b="1" i="0" lang="en-US" sz="77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Rack 5</a:t>
            </a:r>
            <a:endParaRPr b="0" i="0" sz="7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5384705" y="1727285"/>
            <a:ext cx="2866800" cy="1342800"/>
          </a:xfrm>
          <a:prstGeom prst="rect">
            <a:avLst/>
          </a:prstGeom>
          <a:solidFill>
            <a:srgbClr val="E8F4FD"/>
          </a:solidFill>
          <a:ln cap="flat" cmpd="sng" w="10975">
            <a:solidFill>
              <a:srgbClr val="90C4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8975" lIns="78975" spcFirstLastPara="1" rIns="78975" wrap="square" tIns="7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5384705" y="1727285"/>
            <a:ext cx="2866800" cy="13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475" lIns="78975" spcFirstLastPara="1" rIns="78975" wrap="square" tIns="39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🕷 Zone Water Spider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3,9m × 2,6m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5392602" y="3227824"/>
            <a:ext cx="2866800" cy="0"/>
          </a:xfrm>
          <a:prstGeom prst="straightConnector1">
            <a:avLst/>
          </a:prstGeom>
          <a:noFill/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6"/>
          <p:cNvSpPr/>
          <p:nvPr/>
        </p:nvSpPr>
        <p:spPr>
          <a:xfrm>
            <a:off x="5394960" y="32918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3,9 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663440" y="4206240"/>
            <a:ext cx="4297680" cy="59436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663440" y="420624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  Séparation physique totale flux piéton / approvisionnement extérieur — Zéro croisement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4678575" y="1701300"/>
            <a:ext cx="0" cy="1288200"/>
          </a:xfrm>
          <a:prstGeom prst="straightConnector1">
            <a:avLst/>
          </a:prstGeom>
          <a:noFill/>
          <a:ln cap="flat" cmpd="sng" w="10975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6"/>
          <p:cNvSpPr/>
          <p:nvPr/>
        </p:nvSpPr>
        <p:spPr>
          <a:xfrm>
            <a:off x="4590185" y="1427090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2.6 </a:t>
            </a:r>
            <a:r>
              <a:rPr b="1" i="0" lang="en-US" sz="1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Préparation &amp; Standards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Takt Time · Équilibrage · Temps alloués par poste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Standards Logistiques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8" title="sop lo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6747"/>
            <a:ext cx="8839199" cy="376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2467e168c_0_33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2467e168c_0_33"/>
          <p:cNvSpPr/>
          <p:nvPr/>
        </p:nvSpPr>
        <p:spPr>
          <a:xfrm>
            <a:off x="365760" y="0"/>
            <a:ext cx="786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Standards Opérateurs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2467e168c_0_33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2467e168c_0_33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d2467e168c_0_33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g3d2467e168c_0_33" title="SOP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46760"/>
            <a:ext cx="8839201" cy="3566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2467e168c_0_43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2467e168c_0_43"/>
          <p:cNvSpPr/>
          <p:nvPr/>
        </p:nvSpPr>
        <p:spPr>
          <a:xfrm>
            <a:off x="365760" y="0"/>
            <a:ext cx="786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Standards Packaging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d2467e168c_0_43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2467e168c_0_43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d2467e168c_0_43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g3d2467e168c_0_43" title="SOP PAC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0138"/>
            <a:ext cx="8839199" cy="405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2467e168c_0_0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d2467e168c_0_0"/>
          <p:cNvSpPr/>
          <p:nvPr/>
        </p:nvSpPr>
        <p:spPr>
          <a:xfrm>
            <a:off x="365760" y="0"/>
            <a:ext cx="7863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Temps alloués &amp; Équilibrage des Postes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d2467e168c_0_0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d2467e168c_0_0"/>
          <p:cNvSpPr/>
          <p:nvPr/>
        </p:nvSpPr>
        <p:spPr>
          <a:xfrm>
            <a:off x="8686800" y="137160"/>
            <a:ext cx="411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2467e168c_0_0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2467e168c_0_0"/>
          <p:cNvSpPr/>
          <p:nvPr/>
        </p:nvSpPr>
        <p:spPr>
          <a:xfrm>
            <a:off x="365760" y="713232"/>
            <a:ext cx="3840600" cy="128010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2467e168c_0_0"/>
          <p:cNvSpPr/>
          <p:nvPr/>
        </p:nvSpPr>
        <p:spPr>
          <a:xfrm>
            <a:off x="365760" y="713232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Calcul du Takt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d2467e168c_0_0"/>
          <p:cNvSpPr/>
          <p:nvPr/>
        </p:nvSpPr>
        <p:spPr>
          <a:xfrm>
            <a:off x="502920" y="1097280"/>
            <a:ext cx="3566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Temps brut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480 min (8h)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Pauses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- 40 min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Temps net : 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440 min disponibles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Takt Time = 440 / 4</a:t>
            </a: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= </a:t>
            </a:r>
            <a:r>
              <a:rPr b="1" i="0" lang="en-US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1 min = 6</a:t>
            </a:r>
            <a:r>
              <a:rPr b="1" lang="en-US" sz="11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1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5" name="Google Shape;265;g3d2467e168c_0_0"/>
          <p:cNvGraphicFramePr/>
          <p:nvPr/>
        </p:nvGraphicFramePr>
        <p:xfrm>
          <a:off x="365760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{2AE865FE-ABF6-41E5-8D91-20262DE2588E}</a:tableStyleId>
              </a:tblPr>
              <a:tblGrid>
                <a:gridCol w="960125"/>
                <a:gridCol w="960125"/>
                <a:gridCol w="960125"/>
                <a:gridCol w="96012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Takt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Cadre + barquette + pied fixe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 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Fixation des vis (Roue A)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 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Roues mobiles (Roue B)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 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Contrôle qualité + packaging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 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g3d2467e168c_0_0"/>
          <p:cNvSpPr/>
          <p:nvPr/>
        </p:nvSpPr>
        <p:spPr>
          <a:xfrm>
            <a:off x="4572000" y="713232"/>
            <a:ext cx="429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Simogramme — Charge par poste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g3d2467e168c_0_0"/>
          <p:cNvCxnSpPr/>
          <p:nvPr/>
        </p:nvCxnSpPr>
        <p:spPr>
          <a:xfrm>
            <a:off x="4754880" y="1143000"/>
            <a:ext cx="0" cy="2743200"/>
          </a:xfrm>
          <a:prstGeom prst="straightConnector1">
            <a:avLst/>
          </a:prstGeom>
          <a:noFill/>
          <a:ln cap="flat" cmpd="sng" w="12700">
            <a:solidFill>
              <a:srgbClr val="6B7F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g3d2467e168c_0_0"/>
          <p:cNvCxnSpPr/>
          <p:nvPr/>
        </p:nvCxnSpPr>
        <p:spPr>
          <a:xfrm>
            <a:off x="4754880" y="1534886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E74C3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9" name="Google Shape;269;g3d2467e168c_0_0"/>
          <p:cNvSpPr/>
          <p:nvPr/>
        </p:nvSpPr>
        <p:spPr>
          <a:xfrm>
            <a:off x="7955280" y="1306286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Takt = 60 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d2467e168c_0_0"/>
          <p:cNvSpPr/>
          <p:nvPr/>
        </p:nvSpPr>
        <p:spPr>
          <a:xfrm>
            <a:off x="4937760" y="1730829"/>
            <a:ext cx="640200" cy="21555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d2467e168c_0_0"/>
          <p:cNvSpPr/>
          <p:nvPr/>
        </p:nvSpPr>
        <p:spPr>
          <a:xfrm>
            <a:off x="4937760" y="1474797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55s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d2467e168c_0_0"/>
          <p:cNvSpPr/>
          <p:nvPr/>
        </p:nvSpPr>
        <p:spPr>
          <a:xfrm>
            <a:off x="4846320" y="393192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Poste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d2467e168c_0_0"/>
          <p:cNvSpPr/>
          <p:nvPr/>
        </p:nvSpPr>
        <p:spPr>
          <a:xfrm>
            <a:off x="5989320" y="2083526"/>
            <a:ext cx="640200" cy="18027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d2467e168c_0_0"/>
          <p:cNvSpPr/>
          <p:nvPr/>
        </p:nvSpPr>
        <p:spPr>
          <a:xfrm>
            <a:off x="5989320" y="1827494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46s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d2467e168c_0_0"/>
          <p:cNvSpPr/>
          <p:nvPr/>
        </p:nvSpPr>
        <p:spPr>
          <a:xfrm>
            <a:off x="5897880" y="393192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Poste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d2467e168c_0_0"/>
          <p:cNvSpPr/>
          <p:nvPr/>
        </p:nvSpPr>
        <p:spPr>
          <a:xfrm>
            <a:off x="7040880" y="1613263"/>
            <a:ext cx="640200" cy="22728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2467e168c_0_0"/>
          <p:cNvSpPr/>
          <p:nvPr/>
        </p:nvSpPr>
        <p:spPr>
          <a:xfrm>
            <a:off x="7040880" y="1357231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58s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2467e168c_0_0"/>
          <p:cNvSpPr/>
          <p:nvPr/>
        </p:nvSpPr>
        <p:spPr>
          <a:xfrm>
            <a:off x="6949440" y="393192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Poste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d2467e168c_0_0"/>
          <p:cNvSpPr/>
          <p:nvPr/>
        </p:nvSpPr>
        <p:spPr>
          <a:xfrm>
            <a:off x="8092440" y="2318657"/>
            <a:ext cx="640200" cy="156750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d2467e168c_0_0"/>
          <p:cNvSpPr/>
          <p:nvPr/>
        </p:nvSpPr>
        <p:spPr>
          <a:xfrm>
            <a:off x="8092440" y="2062625"/>
            <a:ext cx="64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40s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d2467e168c_0_0"/>
          <p:cNvSpPr/>
          <p:nvPr/>
        </p:nvSpPr>
        <p:spPr>
          <a:xfrm>
            <a:off x="8001000" y="3931920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Poste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d2467e168c_0_0"/>
          <p:cNvSpPr/>
          <p:nvPr/>
        </p:nvSpPr>
        <p:spPr>
          <a:xfrm>
            <a:off x="4572000" y="4206240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opérateurs — Cadence : 1 chariot / minute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d2467e168c_0_0"/>
          <p:cNvSpPr/>
          <p:nvPr/>
        </p:nvSpPr>
        <p:spPr>
          <a:xfrm>
            <a:off x="4572000" y="4206240"/>
            <a:ext cx="4297800" cy="50280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d2467e168c_0_0"/>
          <p:cNvSpPr/>
          <p:nvPr/>
        </p:nvSpPr>
        <p:spPr>
          <a:xfrm>
            <a:off x="4572000" y="4206240"/>
            <a:ext cx="429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opérateurs — Cadence : 1 chariot / minute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Flux Logistique &amp; VSM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Stream Mapping · Diagramme Spaghetti · Communication inter-poste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Flux VSM &amp; Système de Communication Inter-Poste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Value Stream Map simplifiée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274320" y="1143000"/>
            <a:ext cx="1280160" cy="59436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274320" y="114300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Fournisseur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783080" y="1143000"/>
            <a:ext cx="1097280" cy="59436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1783080" y="114300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Réception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063240" y="1143000"/>
            <a:ext cx="1097280" cy="594360"/>
          </a:xfrm>
          <a:prstGeom prst="rect">
            <a:avLst/>
          </a:prstGeom>
          <a:solidFill>
            <a:srgbClr val="6A1B9A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3063240" y="114300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Magasin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4343400" y="1143000"/>
            <a:ext cx="1097280" cy="59436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4343400" y="1143000"/>
            <a:ext cx="1097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Spider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623560" y="1143000"/>
            <a:ext cx="1280160" cy="59436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623560" y="114300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1-2-3-4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086600" y="1143000"/>
            <a:ext cx="1005840" cy="594360"/>
          </a:xfrm>
          <a:prstGeom prst="rect">
            <a:avLst/>
          </a:prstGeom>
          <a:solidFill>
            <a:srgbClr val="27AE60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7086600" y="1143000"/>
            <a:ext cx="1005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Contrôle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8275320" y="1143000"/>
            <a:ext cx="82296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8275320" y="1143000"/>
            <a:ext cx="822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Expédition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0"/>
          <p:cNvCxnSpPr/>
          <p:nvPr/>
        </p:nvCxnSpPr>
        <p:spPr>
          <a:xfrm>
            <a:off x="1554480" y="1440180"/>
            <a:ext cx="22860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0"/>
          <p:cNvCxnSpPr/>
          <p:nvPr/>
        </p:nvCxnSpPr>
        <p:spPr>
          <a:xfrm>
            <a:off x="2880360" y="144018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0"/>
          <p:cNvCxnSpPr/>
          <p:nvPr/>
        </p:nvCxnSpPr>
        <p:spPr>
          <a:xfrm>
            <a:off x="4160520" y="144018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0"/>
          <p:cNvCxnSpPr/>
          <p:nvPr/>
        </p:nvCxnSpPr>
        <p:spPr>
          <a:xfrm>
            <a:off x="5440680" y="144018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0"/>
          <p:cNvCxnSpPr/>
          <p:nvPr/>
        </p:nvCxnSpPr>
        <p:spPr>
          <a:xfrm>
            <a:off x="6903720" y="144018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0"/>
          <p:cNvCxnSpPr/>
          <p:nvPr/>
        </p:nvCxnSpPr>
        <p:spPr>
          <a:xfrm>
            <a:off x="8092440" y="1440180"/>
            <a:ext cx="182880" cy="0"/>
          </a:xfrm>
          <a:prstGeom prst="straightConnector1">
            <a:avLst/>
          </a:prstGeom>
          <a:noFill/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0"/>
          <p:cNvSpPr/>
          <p:nvPr/>
        </p:nvSpPr>
        <p:spPr>
          <a:xfrm>
            <a:off x="3657600" y="658368"/>
            <a:ext cx="1371600" cy="38404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3657600" y="6583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ERP Centralisé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Système de Communication Inter-Poste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365760" y="2331720"/>
            <a:ext cx="1600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65760" y="2331720"/>
            <a:ext cx="160020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365760" y="2331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365760" y="2862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Kanban physique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38912" y="3291840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Déclenchement réapprovisionnement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2084832" y="2331720"/>
            <a:ext cx="1600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2084832" y="2331720"/>
            <a:ext cx="160020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2084832" y="2331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2084832" y="2862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Pick-to-Light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2157984" y="3291840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Guidage visuel couleur par bac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3803904" y="2331720"/>
            <a:ext cx="1600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3803904" y="2331720"/>
            <a:ext cx="160020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3803904" y="2331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803904" y="2862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Scan QR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877056" y="3291840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Traçabilité &amp; validation d'OF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522976" y="2331720"/>
            <a:ext cx="1600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522976" y="2331720"/>
            <a:ext cx="160020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5522976" y="2331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522976" y="2862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Tablette IHM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596128" y="3291840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Affichage variante &amp; check-list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7242048" y="2331720"/>
            <a:ext cx="1600200" cy="2377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7242048" y="2331720"/>
            <a:ext cx="160020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7242048" y="23317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7242048" y="2862072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Management Visuel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7315200" y="3291840"/>
            <a:ext cx="1463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Takt time, Andon, état de la ligne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Packaging &amp; Expédition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Dimensionnement · Optimisation palette · Chargement camion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Gestion du Packaging &amp; Dimensionnement Expédition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365760" y="713232"/>
            <a:ext cx="3931920" cy="283464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365760" y="71323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📦 Carton Individuel Renforcé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02920" y="11887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Chariot (L × l × 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2560320" y="118872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600 × 400 × 157 mm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502920" y="157276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Poids chariot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2560320" y="15727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6,3 kg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502920" y="195681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Carton (L × l × H)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2560320" y="195681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650 × 450 × 207 mm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02920" y="2340864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unitaire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2560320" y="234086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0,06 m³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502920" y="272491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/ jour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2560320" y="2724912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440 chariots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502920" y="31089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Volume journalier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2560320" y="31089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26,65 m³ / jour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65760" y="3611880"/>
            <a:ext cx="3931920" cy="109728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365760" y="361188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Zone d'Expédition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57200" y="4005072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Hauteur utile 2,2m → Surface : 26,65 / 2,2 ≈ 12,1 m²  →  Zone ≈ 13 m²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4572000" y="71323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Optimisation Chargement Camion 19T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572000" y="1143000"/>
            <a:ext cx="42976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4663440" y="114300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Dimensions camion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7178040" y="11430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8-9m × 2,45m × 2,6m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572000" y="1645920"/>
            <a:ext cx="4297680" cy="438912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4663440" y="164592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Cartons / palette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7178040" y="164592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72  (2×3×12)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572000" y="2148840"/>
            <a:ext cx="42976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4663440" y="214884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Hauteur palette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178040" y="21488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2,46 m (12 × 0,205)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4572000" y="2651760"/>
            <a:ext cx="4297680" cy="438912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4663440" y="26517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Palettes / jour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178040" y="265176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 palettes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572000" y="3154680"/>
            <a:ext cx="4297680" cy="4389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4663440" y="315468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Capacité camion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7178040" y="315468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16 palettes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572000" y="3657600"/>
            <a:ext cx="4297680" cy="438912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4663440" y="365760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Stratégie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7178040" y="365760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Chargement tous les 2 jours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4754880" y="4160520"/>
            <a:ext cx="4023360" cy="59436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4846320" y="4224528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4846320" y="4462272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6126480" y="4224528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6126480" y="4462272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7406640" y="4224528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7406640" y="4462272"/>
            <a:ext cx="1188720" cy="201168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/>
          <p:nvPr/>
        </p:nvSpPr>
        <p:spPr>
          <a:xfrm>
            <a:off x="4754880" y="4160520"/>
            <a:ext cx="4023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Disposition cartons : 2 × 3 × 12 = 72 / palette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Expédition &amp; Incoterms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CIF Douala — Répartition des responsabilités · Projet MS → ICAM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Incoterms 2026 — Choix Stratégique CIF Douala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9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F94"/>
                </a:solidFill>
                <a:latin typeface="Calibri"/>
                <a:ea typeface="Calibri"/>
                <a:cs typeface="Calibri"/>
                <a:sym typeface="Calibri"/>
              </a:rPr>
              <a:t>Analyse comparative des Incoterms pour l'expédition vers l'ICAM de Douala (Cameroun)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457200" y="107899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EXW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1280160" y="107899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À l'Usine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3840480" y="1170432"/>
            <a:ext cx="2286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4069080" y="1170432"/>
            <a:ext cx="2057400" cy="3200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3840480" y="117043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10%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365760" y="1645920"/>
            <a:ext cx="8412480" cy="50292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457200" y="16459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FCA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280160" y="16459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Franco Transporteur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3840480" y="1737360"/>
            <a:ext cx="11430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4983480" y="1737360"/>
            <a:ext cx="1143000" cy="3200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3840480" y="17373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50%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457200" y="2212848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CFR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1280160" y="221284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Coût &amp; Fret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3840480" y="2304288"/>
            <a:ext cx="16002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5440680" y="2304288"/>
            <a:ext cx="685800" cy="3200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3840480" y="230428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70%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365760" y="2779776"/>
            <a:ext cx="8412480" cy="50292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457200" y="2779776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1280160" y="2779776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Coût, Assurance &amp; Fret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3840480" y="2871216"/>
            <a:ext cx="18288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5669280" y="2871216"/>
            <a:ext cx="457200" cy="3200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3840480" y="2871216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80%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6400800" y="277977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⭐ CHOIX RETENU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365760" y="3346704"/>
            <a:ext cx="84124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457200" y="3346704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DAP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1280160" y="3346704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Rendu au Lieu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3840480" y="3438144"/>
            <a:ext cx="20574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5897880" y="3438144"/>
            <a:ext cx="228600" cy="3200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3840480" y="343814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90%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365760" y="3913632"/>
            <a:ext cx="8412480" cy="50292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457200" y="391363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DDP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1280160" y="3913632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Rendu Droits Acquittés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3840480" y="4005072"/>
            <a:ext cx="2286000" cy="3200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3840480" y="400507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Vendeur 100%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2C4A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CIF : Maîtrise du fret &amp; assurance maritime jusqu'à Douala — Réduction risques rupture stock de 12%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Finances &amp; ROI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CapEx 32 000€ · Triple Performance 3E · Retour sur investissement &lt; 9 mois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365760" y="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 CapEx &amp; Calcul du ROI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/>
          <p:nvPr/>
        </p:nvSpPr>
        <p:spPr>
          <a:xfrm>
            <a:off x="8686800" y="13716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1A2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301810" y="594357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Répartition CapEx — 32 000 €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2" name="Google Shape;502;p16"/>
          <p:cNvGraphicFramePr/>
          <p:nvPr/>
        </p:nvGraphicFramePr>
        <p:xfrm>
          <a:off x="971225" y="941750"/>
          <a:ext cx="2196600" cy="16734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03" name="Google Shape;503;p16"/>
          <p:cNvGraphicFramePr/>
          <p:nvPr/>
        </p:nvGraphicFramePr>
        <p:xfrm>
          <a:off x="365760" y="26539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{2AE865FE-ABF6-41E5-8D91-20262DE2588E}</a:tableStyleId>
              </a:tblPr>
              <a:tblGrid>
                <a:gridCol w="1920250"/>
                <a:gridCol w="1920250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Coût (€)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B3C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Rails dynamiques + bacs Kanban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12 500 – 16 000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Chariots + logistique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7 000 – 9 000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Tablettes + scanners IoT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Visseuse électrique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Infrastructure IT (Wi-Fi)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1 000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Formation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Indirect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B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B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32 000 €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0D8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4" name="Google Shape;504;p16"/>
          <p:cNvSpPr/>
          <p:nvPr/>
        </p:nvSpPr>
        <p:spPr>
          <a:xfrm>
            <a:off x="4572000" y="71323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Calcul du ROI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572000" y="1115568"/>
            <a:ext cx="42976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4663440" y="11155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7 → 5 opérateurs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7406640" y="1115568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C4A6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4A6E"/>
                </a:solidFill>
                <a:latin typeface="Calibri"/>
                <a:ea typeface="Calibri"/>
                <a:cs typeface="Calibri"/>
                <a:sym typeface="Calibri"/>
              </a:rPr>
              <a:t>-2 postes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4572000" y="1682496"/>
            <a:ext cx="4297680" cy="502920"/>
          </a:xfrm>
          <a:prstGeom prst="rect">
            <a:avLst/>
          </a:prstGeom>
          <a:solidFill>
            <a:srgbClr val="EAF0F7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4663440" y="1682496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Économie mensuelle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7406640" y="1682496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3 640 €/mois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572000" y="2249424"/>
            <a:ext cx="429768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4663440" y="2249424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Économie annuelle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7406640" y="2249424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43 680 €/an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572000" y="2816352"/>
            <a:ext cx="4297680" cy="502920"/>
          </a:xfrm>
          <a:prstGeom prst="rect">
            <a:avLst/>
          </a:prstGeom>
          <a:solidFill>
            <a:srgbClr val="1A2B3C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6"/>
          <p:cNvSpPr/>
          <p:nvPr/>
        </p:nvSpPr>
        <p:spPr>
          <a:xfrm>
            <a:off x="4663440" y="2816352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= 32 000 / 3 640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7406640" y="2816352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8,79 mois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4572000" y="35204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Triple Performance — Industrie 5.0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4572000" y="3913632"/>
            <a:ext cx="1371600" cy="10058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6"/>
          <p:cNvSpPr/>
          <p:nvPr/>
        </p:nvSpPr>
        <p:spPr>
          <a:xfrm>
            <a:off x="4572000" y="39136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57200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Économique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4572000" y="45354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&lt; 9 mois · 43 680 €/an économisés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6035040" y="3913632"/>
            <a:ext cx="1371600" cy="10058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6"/>
          <p:cNvSpPr/>
          <p:nvPr/>
        </p:nvSpPr>
        <p:spPr>
          <a:xfrm>
            <a:off x="6035040" y="39136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03504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Écologique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6035040" y="45354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440 emballages/j supprimés · Boucle fermée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7498080" y="3913632"/>
            <a:ext cx="1371600" cy="1005840"/>
          </a:xfrm>
          <a:prstGeom prst="rect">
            <a:avLst/>
          </a:prstGeom>
          <a:solidFill>
            <a:srgbClr val="2C4A6E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7498080" y="39136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7498080" y="427939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Ergonomique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7498080" y="4535424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TMS éliminés · Golden Zone · Confort cognitif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233dcdc31_0_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d233dcdc31_0_2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2C4A6E">
              <a:alpha val="25099"/>
            </a:srgbClr>
          </a:solidFill>
          <a:ln cap="flat" cmpd="sng" w="12700">
            <a:solidFill>
              <a:srgbClr val="2C4A6E">
                <a:alpha val="250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d233dcdc31_0_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d233dcdc31_0_2"/>
          <p:cNvSpPr/>
          <p:nvPr/>
        </p:nvSpPr>
        <p:spPr>
          <a:xfrm>
            <a:off x="457200" y="228600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g3d233dcdc31_0_2"/>
          <p:cNvSpPr/>
          <p:nvPr/>
        </p:nvSpPr>
        <p:spPr>
          <a:xfrm>
            <a:off x="0" y="4960620"/>
            <a:ext cx="9144000" cy="183000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B3C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2C4A6E">
              <a:alpha val="25098"/>
            </a:srgbClr>
          </a:solidFill>
          <a:ln cap="flat" cmpd="sng" w="12700">
            <a:solidFill>
              <a:srgbClr val="2C4A6E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457200" y="11704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Projet Ligne 5.0 — Bilan &amp; Perspectives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0" name="Google Shape;550;p17"/>
          <p:cNvCxnSpPr/>
          <p:nvPr/>
        </p:nvCxnSpPr>
        <p:spPr>
          <a:xfrm>
            <a:off x="457200" y="160020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6B7F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17"/>
          <p:cNvSpPr/>
          <p:nvPr/>
        </p:nvSpPr>
        <p:spPr>
          <a:xfrm>
            <a:off x="457200" y="1828800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731520" y="1801368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Cadence cible atteinte : 1 chariot / minute avec 4 opérateurs( du poste)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457200" y="2258568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/>
          <p:nvPr/>
        </p:nvSpPr>
        <p:spPr>
          <a:xfrm>
            <a:off x="731520" y="2231136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ROI validé en moins de 9 mois sur un investissement de 32 000 €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457200" y="2688336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731520" y="2660904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ergonomique 100% Golden Zone — Zéro TMS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457200" y="3118104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/>
          <p:nvPr/>
        </p:nvSpPr>
        <p:spPr>
          <a:xfrm>
            <a:off x="731520" y="3090672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Digitalisation complète : RFID, Pick-to-Light, ERP, QR Code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457200" y="3547872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7"/>
          <p:cNvSpPr/>
          <p:nvPr/>
        </p:nvSpPr>
        <p:spPr>
          <a:xfrm>
            <a:off x="731520" y="3520440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Incoterm CIF Douala — Réduction risques rupture de 12%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457200" y="3977640"/>
            <a:ext cx="164592" cy="164592"/>
          </a:xfrm>
          <a:prstGeom prst="ellipse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"/>
          <p:cNvSpPr/>
          <p:nvPr/>
        </p:nvSpPr>
        <p:spPr>
          <a:xfrm>
            <a:off x="731520" y="3950208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Triple performance Économique · Écologique · Ergonomique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457200" y="4480560"/>
            <a:ext cx="5029200" cy="438912"/>
          </a:xfrm>
          <a:prstGeom prst="rect">
            <a:avLst/>
          </a:prstGeom>
          <a:solidFill>
            <a:srgbClr val="F5A623"/>
          </a:solidFill>
          <a:ln cap="flat" cmpd="sng" w="1270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7"/>
          <p:cNvSpPr/>
          <p:nvPr/>
        </p:nvSpPr>
        <p:spPr>
          <a:xfrm>
            <a:off x="457200" y="4480560"/>
            <a:ext cx="5029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Industrie 5.0 — L'humain au cœur de la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2026-03-24T13:15:57Z</dcterms:created>
  <dc:creator>PptxGenJS</dc:creator>
</cp:coreProperties>
</file>