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Play"/>
      <p:regular r:id="rId14"/>
      <p:bold r:id="rId15"/>
    </p:embeddedFon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+WTWLuYKnhxpvOCg8BhopF7x6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slide" Target="slides/slide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2.xml"/><Relationship Id="rId18" Type="http://schemas.openxmlformats.org/officeDocument/2006/relationships/font" Target="fonts/Robot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96eaa185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96eaa18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96eaa185a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96eaa185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96eaa185a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96eaa185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96eaa185a_1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96eaa185a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96eaa185a_1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96eaa185a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99e58aeb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99e58ae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96eaa185a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c96eaa185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96eaa185a_0_0"/>
          <p:cNvSpPr txBox="1"/>
          <p:nvPr>
            <p:ph type="ctrTitle"/>
          </p:nvPr>
        </p:nvSpPr>
        <p:spPr>
          <a:xfrm>
            <a:off x="1524000" y="1907638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Proposition d’architecture IOT pour l’identification des variantes de chariot sur la ligne 5.0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96eaa185a_0_1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Introduction</a:t>
            </a:r>
            <a:endParaRPr/>
          </a:p>
        </p:txBody>
      </p:sp>
      <p:sp>
        <p:nvSpPr>
          <p:cNvPr id="90" name="Google Shape;90;g3c96eaa185a_0_1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fr-FR"/>
              <a:t>La ligne 5.0 a été conçu pour assurer la production de 16 variantes de chariot. la proposition d’infrastructure IOT que nous faisons a pour but de faciliter l’identification et la gestion des 16 Variantes par les opérateurs afin de limiter les erreurs et optimiser les temps de production.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fr-FR"/>
              <a:t>L’objectif de cette présentation est de visualiser l’infrastructure que nous souhaitons mettre en place 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96eaa185a_1_0"/>
          <p:cNvSpPr txBox="1"/>
          <p:nvPr>
            <p:ph type="title"/>
          </p:nvPr>
        </p:nvSpPr>
        <p:spPr>
          <a:xfrm>
            <a:off x="838200" y="365125"/>
            <a:ext cx="10515600" cy="811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45454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fr-FR" sz="325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Architecture IoT</a:t>
            </a:r>
            <a:endParaRPr sz="6000"/>
          </a:p>
        </p:txBody>
      </p:sp>
      <p:pic>
        <p:nvPicPr>
          <p:cNvPr id="96" name="Google Shape;96;g3c96eaa185a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176325"/>
            <a:ext cx="9289298" cy="560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96eaa185a_1_7"/>
          <p:cNvSpPr txBox="1"/>
          <p:nvPr>
            <p:ph type="title"/>
          </p:nvPr>
        </p:nvSpPr>
        <p:spPr>
          <a:xfrm>
            <a:off x="838200" y="365125"/>
            <a:ext cx="10515600" cy="811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45454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fr-FR" sz="325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Architecture IoT Séquence de traçabilité</a:t>
            </a:r>
            <a:endParaRPr sz="6000"/>
          </a:p>
        </p:txBody>
      </p:sp>
      <p:pic>
        <p:nvPicPr>
          <p:cNvPr id="102" name="Google Shape;102;g3c96eaa185a_1_7" title="deepseek_mermaid_20260219_77eca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26800"/>
            <a:ext cx="11887201" cy="3854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96eaa185a_1_13"/>
          <p:cNvSpPr txBox="1"/>
          <p:nvPr>
            <p:ph type="title"/>
          </p:nvPr>
        </p:nvSpPr>
        <p:spPr>
          <a:xfrm>
            <a:off x="838200" y="365125"/>
            <a:ext cx="10515600" cy="811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45454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fr-FR" sz="325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Architecture IoT Flux de données</a:t>
            </a:r>
            <a:endParaRPr sz="6000"/>
          </a:p>
        </p:txBody>
      </p:sp>
      <p:pic>
        <p:nvPicPr>
          <p:cNvPr id="108" name="Google Shape;108;g3c96eaa185a_1_13" title="deepseek_mermaid_20260219_c4145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9125" y="1096475"/>
            <a:ext cx="4313301" cy="565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c96eaa185a_1_13"/>
          <p:cNvSpPr txBox="1"/>
          <p:nvPr/>
        </p:nvSpPr>
        <p:spPr>
          <a:xfrm>
            <a:off x="7635500" y="1415450"/>
            <a:ext cx="4186500" cy="26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2200">
                <a:solidFill>
                  <a:schemeClr val="dk1"/>
                </a:solidFill>
              </a:rPr>
              <a:t>{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2200">
                <a:solidFill>
                  <a:schemeClr val="dk1"/>
                </a:solidFill>
              </a:rPr>
              <a:t>  "sensor_id": "S2",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2200">
                <a:solidFill>
                  <a:schemeClr val="dk1"/>
                </a:solidFill>
              </a:rPr>
              <a:t>  "cart_id": "CH-123",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2200">
                <a:solidFill>
                  <a:schemeClr val="dk1"/>
                </a:solidFill>
              </a:rPr>
              <a:t>  "timestamp": 1678901234,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2200">
                <a:solidFill>
                  <a:schemeClr val="dk1"/>
                </a:solidFill>
              </a:rPr>
              <a:t>  "station_from": 1,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2200">
                <a:solidFill>
                  <a:schemeClr val="dk1"/>
                </a:solidFill>
              </a:rPr>
              <a:t>  "station_to": 2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2200">
                <a:solidFill>
                  <a:schemeClr val="dk1"/>
                </a:solidFill>
              </a:rPr>
              <a:t>}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99e58aeb1_0_0"/>
          <p:cNvSpPr txBox="1"/>
          <p:nvPr>
            <p:ph type="title"/>
          </p:nvPr>
        </p:nvSpPr>
        <p:spPr>
          <a:xfrm>
            <a:off x="838200" y="365125"/>
            <a:ext cx="10515600" cy="811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45454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fr-FR" sz="325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Architecture IoT Visuelle Tablette poste </a:t>
            </a:r>
            <a:endParaRPr sz="6000"/>
          </a:p>
        </p:txBody>
      </p:sp>
      <p:pic>
        <p:nvPicPr>
          <p:cNvPr id="115" name="Google Shape;115;g3c99e58aeb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3550" y="1176325"/>
            <a:ext cx="5245579" cy="537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/>
          <p:nvPr/>
        </p:nvSpPr>
        <p:spPr>
          <a:xfrm>
            <a:off x="4667474" y="2153920"/>
            <a:ext cx="6722347" cy="3064747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5074543" y="2534919"/>
            <a:ext cx="5908207" cy="2302747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5074543" y="2158999"/>
            <a:ext cx="853440" cy="75184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"/>
          <p:cNvSpPr/>
          <p:nvPr/>
        </p:nvSpPr>
        <p:spPr>
          <a:xfrm>
            <a:off x="5074543" y="4466825"/>
            <a:ext cx="853440" cy="75184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10129310" y="2158999"/>
            <a:ext cx="853440" cy="75184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"/>
          <p:cNvSpPr/>
          <p:nvPr/>
        </p:nvSpPr>
        <p:spPr>
          <a:xfrm>
            <a:off x="10119486" y="4461746"/>
            <a:ext cx="853440" cy="75184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5120264" y="2108199"/>
            <a:ext cx="761999" cy="853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5110438" y="4410946"/>
            <a:ext cx="761999" cy="853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45705" y="2153918"/>
            <a:ext cx="827222" cy="751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19485" y="4456665"/>
            <a:ext cx="827222" cy="751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14399" y="1173386"/>
            <a:ext cx="432000" cy="447408"/>
          </a:xfrm>
          <a:prstGeom prst="rect">
            <a:avLst/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1" name="Google Shape;13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5400000">
            <a:off x="1700320" y="1817847"/>
            <a:ext cx="449998" cy="1332000"/>
          </a:xfrm>
          <a:prstGeom prst="rect">
            <a:avLst/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2" name="Google Shape;132;p1"/>
          <p:cNvSpPr/>
          <p:nvPr/>
        </p:nvSpPr>
        <p:spPr>
          <a:xfrm>
            <a:off x="0" y="0"/>
            <a:ext cx="12192000" cy="43688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0" y="33774"/>
            <a:ext cx="12192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Projet MS POSTE 1  |  Connexion ERP: OK |  10:43 AM</a:t>
            </a:r>
            <a:endParaRPr/>
          </a:p>
        </p:txBody>
      </p:sp>
      <p:cxnSp>
        <p:nvCxnSpPr>
          <p:cNvPr id="134" name="Google Shape;134;p1"/>
          <p:cNvCxnSpPr/>
          <p:nvPr/>
        </p:nvCxnSpPr>
        <p:spPr>
          <a:xfrm>
            <a:off x="3860800" y="436880"/>
            <a:ext cx="0" cy="642112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" name="Google Shape;135;p1"/>
          <p:cNvSpPr txBox="1"/>
          <p:nvPr/>
        </p:nvSpPr>
        <p:spPr>
          <a:xfrm>
            <a:off x="5918157" y="1022587"/>
            <a:ext cx="404325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COMMANDE ACTIVE  :</a:t>
            </a:r>
            <a:r>
              <a:rPr b="1" i="0" lang="fr-F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Chariot #194</a:t>
            </a:r>
            <a:endParaRPr/>
          </a:p>
        </p:txBody>
      </p:sp>
      <p:sp>
        <p:nvSpPr>
          <p:cNvPr id="136" name="Google Shape;136;p1"/>
          <p:cNvSpPr txBox="1"/>
          <p:nvPr/>
        </p:nvSpPr>
        <p:spPr>
          <a:xfrm>
            <a:off x="142239" y="2279162"/>
            <a:ext cx="28814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VIS</a:t>
            </a:r>
            <a:endParaRPr/>
          </a:p>
        </p:txBody>
      </p:sp>
      <p:sp>
        <p:nvSpPr>
          <p:cNvPr id="137" name="Google Shape;137;p1"/>
          <p:cNvSpPr txBox="1"/>
          <p:nvPr/>
        </p:nvSpPr>
        <p:spPr>
          <a:xfrm>
            <a:off x="12626" y="1212424"/>
            <a:ext cx="28814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 ECROUS</a:t>
            </a:r>
            <a:endParaRPr/>
          </a:p>
        </p:txBody>
      </p:sp>
      <p:sp>
        <p:nvSpPr>
          <p:cNvPr id="138" name="Google Shape;138;p1"/>
          <p:cNvSpPr/>
          <p:nvPr/>
        </p:nvSpPr>
        <p:spPr>
          <a:xfrm>
            <a:off x="1714399" y="1809359"/>
            <a:ext cx="409713" cy="292887"/>
          </a:xfrm>
          <a:prstGeom prst="ellipse">
            <a:avLst/>
          </a:prstGeom>
          <a:solidFill>
            <a:srgbClr val="7F7F7F"/>
          </a:solidFill>
          <a:ln cap="flat" cmpd="sng" w="25400">
            <a:solidFill>
              <a:srgbClr val="45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" name="Google Shape;139;p1"/>
          <p:cNvCxnSpPr/>
          <p:nvPr/>
        </p:nvCxnSpPr>
        <p:spPr>
          <a:xfrm>
            <a:off x="0" y="5730240"/>
            <a:ext cx="12192000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0" name="Google Shape;140;p1"/>
          <p:cNvSpPr txBox="1"/>
          <p:nvPr/>
        </p:nvSpPr>
        <p:spPr>
          <a:xfrm>
            <a:off x="259075" y="6095748"/>
            <a:ext cx="3411300" cy="7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SIGNALER UNE ANOMALIE</a:t>
            </a:r>
            <a:endParaRPr/>
          </a:p>
        </p:txBody>
      </p:sp>
      <p:sp>
        <p:nvSpPr>
          <p:cNvPr id="141" name="Google Shape;141;p1"/>
          <p:cNvSpPr txBox="1"/>
          <p:nvPr/>
        </p:nvSpPr>
        <p:spPr>
          <a:xfrm>
            <a:off x="5617179" y="6126485"/>
            <a:ext cx="4818443" cy="40011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VALIDER LE KITTING 🡪 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"/>
          <p:cNvSpPr/>
          <p:nvPr/>
        </p:nvSpPr>
        <p:spPr>
          <a:xfrm>
            <a:off x="4667474" y="2153920"/>
            <a:ext cx="6722347" cy="3064747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"/>
          <p:cNvSpPr/>
          <p:nvPr/>
        </p:nvSpPr>
        <p:spPr>
          <a:xfrm>
            <a:off x="5074543" y="2534919"/>
            <a:ext cx="5908207" cy="2302747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"/>
          <p:cNvSpPr/>
          <p:nvPr/>
        </p:nvSpPr>
        <p:spPr>
          <a:xfrm>
            <a:off x="5074543" y="2158999"/>
            <a:ext cx="853440" cy="75184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"/>
          <p:cNvSpPr/>
          <p:nvPr/>
        </p:nvSpPr>
        <p:spPr>
          <a:xfrm>
            <a:off x="5074543" y="4466825"/>
            <a:ext cx="853440" cy="75184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"/>
          <p:cNvSpPr/>
          <p:nvPr/>
        </p:nvSpPr>
        <p:spPr>
          <a:xfrm>
            <a:off x="10129310" y="2158999"/>
            <a:ext cx="853440" cy="75184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10119486" y="4461746"/>
            <a:ext cx="853440" cy="75184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5705" y="2153918"/>
            <a:ext cx="827222" cy="751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485" y="4456665"/>
            <a:ext cx="827222" cy="751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4399" y="1173386"/>
            <a:ext cx="432000" cy="447408"/>
          </a:xfrm>
          <a:prstGeom prst="rect">
            <a:avLst/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5" name="Google Shape;15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700320" y="1817847"/>
            <a:ext cx="449998" cy="1332000"/>
          </a:xfrm>
          <a:prstGeom prst="rect">
            <a:avLst/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6" name="Google Shape;156;p2"/>
          <p:cNvSpPr/>
          <p:nvPr/>
        </p:nvSpPr>
        <p:spPr>
          <a:xfrm>
            <a:off x="0" y="0"/>
            <a:ext cx="12192000" cy="43688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0" y="33774"/>
            <a:ext cx="12192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Projet MS POSTE 2  |  Connexion ERP: OK |  10:43 AM</a:t>
            </a:r>
            <a:endParaRPr/>
          </a:p>
        </p:txBody>
      </p:sp>
      <p:cxnSp>
        <p:nvCxnSpPr>
          <p:cNvPr id="158" name="Google Shape;158;p2"/>
          <p:cNvCxnSpPr/>
          <p:nvPr/>
        </p:nvCxnSpPr>
        <p:spPr>
          <a:xfrm>
            <a:off x="3860800" y="436880"/>
            <a:ext cx="0" cy="642112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9" name="Google Shape;159;p2"/>
          <p:cNvSpPr txBox="1"/>
          <p:nvPr/>
        </p:nvSpPr>
        <p:spPr>
          <a:xfrm>
            <a:off x="5918157" y="1022587"/>
            <a:ext cx="404325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COMMANDE ACTIVE  :</a:t>
            </a:r>
            <a:r>
              <a:rPr b="1"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Chariot #194</a:t>
            </a:r>
            <a:endParaRPr/>
          </a:p>
        </p:txBody>
      </p:sp>
      <p:sp>
        <p:nvSpPr>
          <p:cNvPr id="160" name="Google Shape;160;p2"/>
          <p:cNvSpPr txBox="1"/>
          <p:nvPr/>
        </p:nvSpPr>
        <p:spPr>
          <a:xfrm>
            <a:off x="142239" y="2279162"/>
            <a:ext cx="28814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VIS</a:t>
            </a:r>
            <a:endParaRPr/>
          </a:p>
        </p:txBody>
      </p:sp>
      <p:sp>
        <p:nvSpPr>
          <p:cNvPr id="161" name="Google Shape;161;p2"/>
          <p:cNvSpPr txBox="1"/>
          <p:nvPr/>
        </p:nvSpPr>
        <p:spPr>
          <a:xfrm>
            <a:off x="12626" y="1212424"/>
            <a:ext cx="28814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ECROUS</a:t>
            </a:r>
            <a:endParaRPr/>
          </a:p>
        </p:txBody>
      </p:sp>
      <p:sp>
        <p:nvSpPr>
          <p:cNvPr id="162" name="Google Shape;162;p2"/>
          <p:cNvSpPr/>
          <p:nvPr/>
        </p:nvSpPr>
        <p:spPr>
          <a:xfrm>
            <a:off x="1714399" y="1809359"/>
            <a:ext cx="409713" cy="292887"/>
          </a:xfrm>
          <a:prstGeom prst="ellipse">
            <a:avLst/>
          </a:prstGeom>
          <a:solidFill>
            <a:srgbClr val="7F7F7F"/>
          </a:solidFill>
          <a:ln cap="flat" cmpd="sng" w="25400">
            <a:solidFill>
              <a:srgbClr val="45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" name="Google Shape;163;p2"/>
          <p:cNvCxnSpPr/>
          <p:nvPr/>
        </p:nvCxnSpPr>
        <p:spPr>
          <a:xfrm>
            <a:off x="0" y="5730240"/>
            <a:ext cx="12192000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4" name="Google Shape;164;p2"/>
          <p:cNvSpPr txBox="1"/>
          <p:nvPr/>
        </p:nvSpPr>
        <p:spPr>
          <a:xfrm>
            <a:off x="259078" y="6095752"/>
            <a:ext cx="3342639" cy="40011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SIGNALER UNE ANOMALIE</a:t>
            </a:r>
            <a:endParaRPr/>
          </a:p>
        </p:txBody>
      </p:sp>
      <p:sp>
        <p:nvSpPr>
          <p:cNvPr id="165" name="Google Shape;165;p2"/>
          <p:cNvSpPr txBox="1"/>
          <p:nvPr/>
        </p:nvSpPr>
        <p:spPr>
          <a:xfrm>
            <a:off x="5617179" y="6126485"/>
            <a:ext cx="4818443" cy="40011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VALIDER LE KITTING 🡪 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61155" y="2169409"/>
            <a:ext cx="866828" cy="73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94438" y="4468335"/>
            <a:ext cx="813649" cy="767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96eaa185a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Conclusion</a:t>
            </a:r>
            <a:endParaRPr/>
          </a:p>
        </p:txBody>
      </p:sp>
      <p:sp>
        <p:nvSpPr>
          <p:cNvPr id="173" name="Google Shape;173;g3c96eaa185a_0_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fr-FR"/>
              <a:t>L’infrastructure tel que proposé sera implémenté dans l’optique de faciliter le travail aux opérateurs. D’autres fonctionnalités pourraient </a:t>
            </a:r>
            <a:r>
              <a:rPr lang="fr-FR"/>
              <a:t>être</a:t>
            </a:r>
            <a:r>
              <a:rPr lang="fr-FR"/>
              <a:t> ajoutés à la solution dans l’optique de la rendre meilleure si nécessaire et dans la limite de disponibilité du matériel.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2026-02-19T08:29:22Z</dcterms:created>
  <dc:creator>mohamed.saissi-hassani</dc:creator>
</cp:coreProperties>
</file>